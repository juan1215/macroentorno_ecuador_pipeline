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579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21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457200"/>
            <a:ext cx="338328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C7D6E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 ·  Ingeniería en Ciencias de la Computación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LÍNEA INGENIERÍA DE DATOS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Analítico del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Macroentorno Ecuatoriano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419856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medallón (Bronze–Silver–Gold) para integrar BCE, INEC, MinEduc y Superintendencia de Compañías en un tablero único de apoyo a la toma de decisiones institucionales.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292608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Diego Villamagua Alvarado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148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de Ingeniería en Ciencias de la Computación · Loja, Ecuador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valiosa, pero dispersa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 UTPL necesita datos actualizados del entorno económico, social y educativo del país para tomar decisiones </a:t>
            </a:r>
            <a:r>
              <a:rPr lang="en-US" sz="14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institucionales</a:t>
            </a: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esa información vive repartida entre distintas fuentes oficiales.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514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EC" dirty="0"/>
          </a:p>
        </p:txBody>
      </p:sp>
      <p:sp>
        <p:nvSpPr>
          <p:cNvPr id="6" name="Shape 4"/>
          <p:cNvSpPr/>
          <p:nvPr/>
        </p:nvSpPr>
        <p:spPr>
          <a:xfrm>
            <a:off x="777240" y="267919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7724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291840"/>
            <a:ext cx="2112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9808" y="3794760"/>
            <a:ext cx="2112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nacionales y evolución del PIB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423160"/>
            <a:ext cx="2514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3547872" y="267919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54787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291840"/>
            <a:ext cx="2112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INEC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20440" y="3794760"/>
            <a:ext cx="2112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Empleo, desempleo y subempleo (ENEMDU)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9904" y="2423160"/>
            <a:ext cx="2514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6318504" y="267919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318504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91072" y="3291840"/>
            <a:ext cx="2112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INEC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291072" y="3794760"/>
            <a:ext cx="2112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Bachilleres graduados por provincia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0536" y="2423160"/>
            <a:ext cx="2514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9089136" y="267919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9089136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61704" y="3291840"/>
            <a:ext cx="2112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Superintendencia de Compañías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061704" y="3794760"/>
            <a:ext cx="2112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empresas activas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417320"/>
          </a:xfrm>
          <a:prstGeom prst="rect">
            <a:avLst/>
          </a:prstGeom>
          <a:solidFill>
            <a:srgbClr val="EAF0F6"/>
          </a:solidFill>
          <a:ln w="12700">
            <a:solidFill>
              <a:srgbClr val="CBD8E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86868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19379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s-ES" sz="1400" dirty="0"/>
              <a:t>Cada fuente de datos organiza la información de forma diferente, se actualiza en distintos momentos y muestra datos de diferentes zonas geográficas. Algunas presentan información por cantón y otras solo por provincia, lo que dificulta unirlas y analizarlas sin antes organizarlas e integrarlas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ARQUITECTURA GENERAL DEL PIPELINE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datos de múltiples fuentes hasta convertirlos en información útil para el análisis.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000FD527-34A4-9A81-5079-325622A7D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325" y="1691640"/>
            <a:ext cx="9073429" cy="45861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SOLUCIÓN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medallón: Bronze → Silver → Gold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versionado en Python y SQL, en lugar de conexiones directas o planillas manuales.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46120" cy="2834640"/>
          </a:xfrm>
          <a:prstGeom prst="rect">
            <a:avLst/>
          </a:prstGeom>
          <a:solidFill>
            <a:srgbClr val="16314F"/>
          </a:solidFill>
          <a:ln w="19050">
            <a:solidFill>
              <a:srgbClr val="3D5A7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246120" cy="457200"/>
          </a:xfrm>
          <a:prstGeom prst="rect">
            <a:avLst/>
          </a:prstGeom>
          <a:solidFill>
            <a:srgbClr val="3D5A7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6148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crudos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273552"/>
            <a:ext cx="2788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originales de BCE, INEC, AMIE y Supercías, sin transformar.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22192" y="3246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297680" y="2103120"/>
            <a:ext cx="3246120" cy="2834640"/>
          </a:xfrm>
          <a:prstGeom prst="rect">
            <a:avLst/>
          </a:prstGeom>
          <a:solidFill>
            <a:srgbClr val="16314F"/>
          </a:solidFill>
          <a:ln w="19050">
            <a:solidFill>
              <a:srgbClr val="5C7C9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3246120" cy="457200"/>
          </a:xfrm>
          <a:prstGeom prst="rect">
            <a:avLst/>
          </a:prstGeom>
          <a:solidFill>
            <a:srgbClr val="5C7C9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297680" y="2103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76148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limpios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3273552"/>
            <a:ext cx="2788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Tipado, estandarización y dimensiones compartidas (geografía, tiempo, CIIU).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71232" y="3246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046720" y="2103120"/>
            <a:ext cx="3246120" cy="2834640"/>
          </a:xfrm>
          <a:prstGeom prst="rect">
            <a:avLst/>
          </a:prstGeom>
          <a:solidFill>
            <a:srgbClr val="16314F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8046720" y="2103120"/>
            <a:ext cx="3246120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8046720" y="2103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75320" y="276148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Vistas de negocio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75320" y="3273552"/>
            <a:ext cx="2788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vistas SQL listas para consumo: PIB, empleo, empresas, bachilleres, oportunidad.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(pandas) para extracción · PostgreSQL (esquemas silver/gold) · Power BI Desktop para el tablero.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36911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EL RETO TÉCNICO RESUELTO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el cruce entre fuentes no coincidía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s-E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diferencias en la forma de organizar la información por ubicación hacían que, al unir los datos, parte de la información no coincidiera y se perdiera.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B7B0"/>
            </a:solidFill>
            <a:prstDash val="solid"/>
          </a:ln>
          <a:effectLst>
            <a:outerShdw blurRad="76200" dist="25400" dir="5400000" algn="bl" rotWithShape="0">
              <a:srgbClr val="9AA5B1">
                <a:alpha val="2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450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dim_geografia identifica provincias y cantones con un id_geo único. Pero MinEduc cargó sus datos a nivel de provincia y cantón, mientras que Supercías cargó únicamente a nivel de provincia.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A94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el JOIN por id_geo no encontraba coincidencias entre ambas fuentes, aunque se referían a la misma provincia.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148840"/>
            <a:ext cx="5394960" cy="3566160"/>
          </a:xfrm>
          <a:prstGeom prst="rect">
            <a:avLst/>
          </a:prstGeom>
          <a:solidFill>
            <a:srgbClr val="1B3A5C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6492240" y="242316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2450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0632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cambió la clave de cruce del identificador numérico al atributo de texto compartido entre fuentes: el nombre de provincia.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4069080"/>
            <a:ext cx="4800600" cy="502920"/>
          </a:xfrm>
          <a:prstGeom prst="rect">
            <a:avLst/>
          </a:prstGeom>
          <a:solidFill>
            <a:srgbClr val="16314F"/>
          </a:solidFill>
          <a:ln w="95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492240" y="40690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id_geo (numérico)  →  provincia (texto)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47091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a la separación por capas, la corrección se aplicó solo en la vista Gold afectada, sin reprocesar la extracción original de MinEduc ni de Supercías.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RESULTADOS — PÁGINA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Evolución económica del país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ha evolucionado la economía ecuatoriana en los últimos 20 años?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99516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7DEE6"/>
            </a:solidFill>
            <a:prstDash val="solid"/>
          </a:ln>
          <a:effectLst>
            <a:outerShdw blurRad="101600" dist="38100" dir="5400000" algn="bl" rotWithShape="0">
              <a:srgbClr val="8A96A3">
                <a:alpha val="3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6" name="Image 0" descr="/home/claude/proj/dash1_p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4560"/>
            <a:ext cx="672084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1 DE 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818120" y="2441448"/>
            <a:ext cx="384048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6"/>
          <p:cNvSpPr/>
          <p:nvPr/>
        </p:nvSpPr>
        <p:spPr>
          <a:xfrm>
            <a:off x="8001000" y="2514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$115,3 mil M.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001000" y="2926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real último año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18120" y="3337560"/>
            <a:ext cx="384048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9"/>
          <p:cNvSpPr/>
          <p:nvPr/>
        </p:nvSpPr>
        <p:spPr>
          <a:xfrm>
            <a:off x="8001000" y="34107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1,15 %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01000" y="38221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interanual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18120" y="4279392"/>
            <a:ext cx="3840480" cy="1892808"/>
          </a:xfrm>
          <a:prstGeom prst="rect">
            <a:avLst/>
          </a:prstGeom>
          <a:solidFill>
            <a:srgbClr val="EAF0F6"/>
          </a:solidFill>
          <a:ln w="12700">
            <a:solidFill>
              <a:srgbClr val="CBD8E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2"/>
          <p:cNvSpPr/>
          <p:nvPr/>
        </p:nvSpPr>
        <p:spPr>
          <a:xfrm>
            <a:off x="8001000" y="4434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clave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001000" y="473659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general de crecimiento del PIB real, con una contracción marcada en 2020 coincidente con la crisis sanitaria global.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RESULTADOS — PÁGINA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Concentración sectorial y provincial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sectores y provincias se concentran la actividad económica y el empleo?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99516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7DEE6"/>
            </a:solidFill>
            <a:prstDash val="solid"/>
          </a:ln>
          <a:effectLst>
            <a:outerShdw blurRad="101600" dist="38100" dir="5400000" algn="bl" rotWithShape="0">
              <a:srgbClr val="8A96A3">
                <a:alpha val="3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6" name="Image 0" descr="/home/claude/proj/dash2_concentr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4560"/>
            <a:ext cx="672084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2 DE 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818120" y="2441448"/>
            <a:ext cx="384048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6"/>
          <p:cNvSpPr/>
          <p:nvPr/>
        </p:nvSpPr>
        <p:spPr>
          <a:xfrm>
            <a:off x="8001000" y="2514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41,53 %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001000" y="2926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VAB nacional en Guayas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18120" y="3337560"/>
            <a:ext cx="384048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9"/>
          <p:cNvSpPr/>
          <p:nvPr/>
        </p:nvSpPr>
        <p:spPr>
          <a:xfrm>
            <a:off x="8001000" y="34107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Comercio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01000" y="38221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con más ocupados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18120" y="4279392"/>
            <a:ext cx="3840480" cy="1892808"/>
          </a:xfrm>
          <a:prstGeom prst="rect">
            <a:avLst/>
          </a:prstGeom>
          <a:solidFill>
            <a:srgbClr val="EAF0F6"/>
          </a:solidFill>
          <a:ln w="12700">
            <a:solidFill>
              <a:srgbClr val="CBD8E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2"/>
          <p:cNvSpPr/>
          <p:nvPr/>
        </p:nvSpPr>
        <p:spPr>
          <a:xfrm>
            <a:off x="8001000" y="4434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clave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001000" y="473659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agregado bruto se concentra fuertemente en pocas provincias, mientras el empleo se acumula en comercio y agricultura — sectores de menor productividad relativa frente a industria y finanzas.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RESULTADOS — PÁGINA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Bachilleres vs. empresas activas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están los bachilleres del Ecuador y cuántas empresas hay en cada provincia?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99516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7DEE6"/>
            </a:solidFill>
            <a:prstDash val="solid"/>
          </a:ln>
          <a:effectLst>
            <a:outerShdw blurRad="101600" dist="38100" dir="5400000" algn="bl" rotWithShape="0">
              <a:srgbClr val="8A96A3">
                <a:alpha val="3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6" name="Image 0" descr="/home/claude/proj/dash3_bachille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4560"/>
            <a:ext cx="672084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3 DE 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818120" y="2441448"/>
            <a:ext cx="384048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6"/>
          <p:cNvSpPr/>
          <p:nvPr/>
        </p:nvSpPr>
        <p:spPr>
          <a:xfrm>
            <a:off x="8001000" y="2514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mill.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001000" y="2926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bachilleres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18120" y="3337560"/>
            <a:ext cx="384048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9"/>
          <p:cNvSpPr/>
          <p:nvPr/>
        </p:nvSpPr>
        <p:spPr>
          <a:xfrm>
            <a:off x="8001000" y="34107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Bolívar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01000" y="38221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de mayor oportunidad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18120" y="4279392"/>
            <a:ext cx="3840480" cy="1892808"/>
          </a:xfrm>
          <a:prstGeom prst="rect">
            <a:avLst/>
          </a:prstGeom>
          <a:solidFill>
            <a:srgbClr val="EAF0F6"/>
          </a:solidFill>
          <a:ln w="12700">
            <a:solidFill>
              <a:srgbClr val="CBD8E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2"/>
          <p:cNvSpPr/>
          <p:nvPr/>
        </p:nvSpPr>
        <p:spPr>
          <a:xfrm>
            <a:off x="8001000" y="4434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clave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001000" y="473659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Provincias como Bolívar muestran una razón bachilleres/empresas muy superior al promedio: talento humano potencial que el tejido empresarial local aún no absorbe — clave para planificar oferta académica.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CONCLUSIONES Y RECOMENDACIONES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deja el proyecto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6771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841248" y="2194560"/>
            <a:ext cx="4965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medallón integra fuentes heterogéneas si se cuida la consistencia de las claves de cruce.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278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841248" y="3154680"/>
            <a:ext cx="4965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granularidad geográfica distinta entre fuentes es un riesgo real, no solo teórico.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879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841248" y="4114800"/>
            <a:ext cx="4965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monitoreo del motor de base de datos frente a configuraciones del sistema operativo también importa.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16916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55080" y="226771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6647688" y="2194560"/>
            <a:ext cx="4965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 con la división político-administrativa oficial del Ecuador.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32278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6647688" y="3154680"/>
            <a:ext cx="4965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oportunidad ponderado por volumen absoluto de bachilleres.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41879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647688" y="4114800"/>
            <a:ext cx="4965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completa del pipeline con un orquestador de tareas.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D5A7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INGENIERÍA DE DATOS · UTPL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898</Words>
  <Application>Microsoft Office PowerPoint</Application>
  <PresentationFormat>Panorámica</PresentationFormat>
  <Paragraphs>122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DIEGO VILLAMAGUA ALVARADO</cp:lastModifiedBy>
  <cp:revision>3</cp:revision>
  <dcterms:created xsi:type="dcterms:W3CDTF">2026-07-23T14:01:36Z</dcterms:created>
  <dcterms:modified xsi:type="dcterms:W3CDTF">2026-07-23T15:35:44Z</dcterms:modified>
</cp:coreProperties>
</file>